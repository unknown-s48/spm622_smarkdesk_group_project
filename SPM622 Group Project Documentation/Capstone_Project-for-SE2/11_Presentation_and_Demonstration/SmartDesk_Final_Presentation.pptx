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DDDC1CA-1D2A-4989-879E-3014E3E613E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3ACF20D-6D68-486E-8BD8-51DCCF47335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6C94317-2E61-4C15-BED0-BCCD3B2C82B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70ADD71-EDF5-4BCD-BA60-0977833E4B1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3E72D2F-3F30-4A66-B6B2-64E871AEFDC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E430A50-344C-405D-BA1F-4F724D81496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981679D-10E7-4BBF-9833-9D6FB50786A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867405C-FCAB-42F0-8DA5-DC737A9F8C8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4665FCF-BC76-4267-922C-73536E86DF2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E8F3265-C39E-45A0-93E7-506E803C190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44F2FE5-C54C-4401-9C71-DBBC9229DAC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4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0" y="0"/>
            <a:ext cx="100080" cy="6857640"/>
          </a:xfrm>
          <a:prstGeom prst="rect">
            <a:avLst/>
          </a:prstGeom>
          <a:solidFill>
            <a:srgbClr val="28D9B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TextBox 2"/>
          <p:cNvSpPr/>
          <p:nvPr/>
        </p:nvSpPr>
        <p:spPr>
          <a:xfrm>
            <a:off x="594360" y="311040"/>
            <a:ext cx="10058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100" b="1" u="none" strike="noStrike">
                <a:solidFill>
                  <a:srgbClr val="28D9B7"/>
                </a:solidFill>
                <a:effectLst/>
                <a:uFillTx/>
                <a:latin typeface="Aptos"/>
              </a:rPr>
              <a:t>SMARTDESK  /  FINAL SYSTEM PRESENTATION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3"/>
          <p:cNvSpPr/>
          <p:nvPr/>
        </p:nvSpPr>
        <p:spPr>
          <a:xfrm>
            <a:off x="594360" y="795600"/>
            <a:ext cx="10972440" cy="103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3100" b="1" u="none" strike="noStrike">
                <a:solidFill>
                  <a:srgbClr val="F3F8FF"/>
                </a:solidFill>
                <a:effectLst/>
                <a:uFillTx/>
                <a:latin typeface="Aptos"/>
              </a:rPr>
              <a:t>SmartDesk: A Customer Support Ticketing System for Small IT Support Teams</a:t>
            </a:r>
            <a:endParaRPr lang="en-US" sz="3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4"/>
          <p:cNvSpPr/>
          <p:nvPr/>
        </p:nvSpPr>
        <p:spPr>
          <a:xfrm>
            <a:off x="594360" y="6446520"/>
            <a:ext cx="91436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000" b="0" u="none" strike="noStrike">
                <a:solidFill>
                  <a:srgbClr val="A1B5C9"/>
                </a:solidFill>
                <a:effectLst/>
                <a:uFillTx/>
                <a:latin typeface="Aptos"/>
              </a:rPr>
              <a:t>F. Schaefer-Gerber  •  W. Sandenbergh   |   29 October 2026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5"/>
          <p:cNvSpPr/>
          <p:nvPr/>
        </p:nvSpPr>
        <p:spPr>
          <a:xfrm>
            <a:off x="11247120" y="641916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100" b="1" u="none" strike="noStrike">
                <a:solidFill>
                  <a:srgbClr val="28D9B7"/>
                </a:solidFill>
                <a:effectLst/>
                <a:uFillTx/>
                <a:latin typeface="Aptos"/>
              </a:rPr>
              <a:t>01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6"/>
          <p:cNvSpPr/>
          <p:nvPr/>
        </p:nvSpPr>
        <p:spPr>
          <a:xfrm>
            <a:off x="731520" y="2103120"/>
            <a:ext cx="100580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2600" b="0" u="none" strike="noStrike">
                <a:solidFill>
                  <a:srgbClr val="F3F8FF"/>
                </a:solidFill>
                <a:effectLst/>
                <a:uFillTx/>
                <a:latin typeface="Aptos"/>
              </a:rPr>
              <a:t>A centralised support workflow for small IT teams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7"/>
          <p:cNvSpPr/>
          <p:nvPr/>
        </p:nvSpPr>
        <p:spPr>
          <a:xfrm>
            <a:off x="731520" y="3931920"/>
            <a:ext cx="100580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rgbClr val="A1B5C9"/>
                </a:solidFill>
                <a:effectLst/>
                <a:uFillTx/>
                <a:latin typeface="Aptos"/>
              </a:rPr>
              <a:t>Freek Schaefer-Gerber  &amp;  Wian Sandenbergh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rgbClr val="A1B5C9"/>
                </a:solidFill>
                <a:effectLst/>
                <a:uFillTx/>
                <a:latin typeface="Aptos"/>
              </a:rPr>
              <a:t>Lecturer: Mr. Dunstan  •  SPM622 / MDB622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4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1"/>
          <p:cNvSpPr/>
          <p:nvPr/>
        </p:nvSpPr>
        <p:spPr>
          <a:xfrm>
            <a:off x="0" y="0"/>
            <a:ext cx="100080" cy="6857640"/>
          </a:xfrm>
          <a:prstGeom prst="rect">
            <a:avLst/>
          </a:prstGeom>
          <a:solidFill>
            <a:srgbClr val="28D9B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" name="TextBox 2"/>
          <p:cNvSpPr/>
          <p:nvPr/>
        </p:nvSpPr>
        <p:spPr>
          <a:xfrm>
            <a:off x="594360" y="311040"/>
            <a:ext cx="10058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100" b="1" u="none" strike="noStrike">
                <a:solidFill>
                  <a:srgbClr val="28D9B7"/>
                </a:solidFill>
                <a:effectLst/>
                <a:uFillTx/>
                <a:latin typeface="Aptos"/>
              </a:rPr>
              <a:t>SMARTDESK  /  CAPSTONE PROJECT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3"/>
          <p:cNvSpPr/>
          <p:nvPr/>
        </p:nvSpPr>
        <p:spPr>
          <a:xfrm>
            <a:off x="594360" y="795600"/>
            <a:ext cx="109724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3100" b="1" u="none" strike="noStrike">
                <a:solidFill>
                  <a:srgbClr val="F3F8FF"/>
                </a:solidFill>
                <a:effectLst/>
                <a:uFillTx/>
                <a:latin typeface="Aptos"/>
              </a:rPr>
              <a:t>The problem we set out to solve</a:t>
            </a:r>
            <a:endParaRPr lang="en-US" sz="3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4"/>
          <p:cNvSpPr/>
          <p:nvPr/>
        </p:nvSpPr>
        <p:spPr>
          <a:xfrm>
            <a:off x="594360" y="6446520"/>
            <a:ext cx="91436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000" b="0" u="none" strike="noStrike">
                <a:solidFill>
                  <a:srgbClr val="A1B5C9"/>
                </a:solidFill>
                <a:effectLst/>
                <a:uFillTx/>
                <a:latin typeface="Aptos"/>
              </a:rPr>
              <a:t>F. Schaefer-Gerber  •  W. Sandenbergh   |   29 October 2026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5"/>
          <p:cNvSpPr/>
          <p:nvPr/>
        </p:nvSpPr>
        <p:spPr>
          <a:xfrm>
            <a:off x="11247120" y="641916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100" b="1" u="none" strike="noStrike">
                <a:solidFill>
                  <a:srgbClr val="28D9B7"/>
                </a:solidFill>
                <a:effectLst/>
                <a:uFillTx/>
                <a:latin typeface="Aptos"/>
              </a:rPr>
              <a:t>02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Rounded Rectangle 6"/>
          <p:cNvSpPr/>
          <p:nvPr/>
        </p:nvSpPr>
        <p:spPr>
          <a:xfrm>
            <a:off x="640080" y="1874520"/>
            <a:ext cx="5303160" cy="3474360"/>
          </a:xfrm>
          <a:prstGeom prst="roundRect">
            <a:avLst>
              <a:gd name="adj" fmla="val 16667"/>
            </a:avLst>
          </a:prstGeom>
          <a:solidFill>
            <a:srgbClr val="1222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" name="TextBox 7"/>
          <p:cNvSpPr/>
          <p:nvPr/>
        </p:nvSpPr>
        <p:spPr>
          <a:xfrm>
            <a:off x="868680" y="2084760"/>
            <a:ext cx="48459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800" b="1" u="none" strike="noStrike">
                <a:solidFill>
                  <a:srgbClr val="28D9B7"/>
                </a:solidFill>
                <a:effectLst/>
                <a:uFillTx/>
                <a:latin typeface="Aptos"/>
              </a:rPr>
              <a:t>Current challenges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8"/>
          <p:cNvSpPr/>
          <p:nvPr/>
        </p:nvSpPr>
        <p:spPr>
          <a:xfrm>
            <a:off x="868680" y="2679120"/>
            <a:ext cx="4845960" cy="25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rgbClr val="F3F8FF"/>
                </a:solidFill>
                <a:effectLst/>
                <a:uFillTx/>
                <a:latin typeface="Aptos"/>
              </a:rPr>
              <a:t>Shared inboxes, messaging apps and spreadsheets can scatter support requests.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rgbClr val="F3F8FF"/>
                </a:solidFill>
                <a:effectLst/>
                <a:uFillTx/>
                <a:latin typeface="Aptos"/>
              </a:rPr>
              <a:t>Ownership and status become difficult to track.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Rounded Rectangle 9"/>
          <p:cNvSpPr/>
          <p:nvPr/>
        </p:nvSpPr>
        <p:spPr>
          <a:xfrm>
            <a:off x="6126480" y="1874520"/>
            <a:ext cx="5303160" cy="3474360"/>
          </a:xfrm>
          <a:prstGeom prst="roundRect">
            <a:avLst>
              <a:gd name="adj" fmla="val 16667"/>
            </a:avLst>
          </a:prstGeom>
          <a:solidFill>
            <a:srgbClr val="1222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" name="TextBox 10"/>
          <p:cNvSpPr/>
          <p:nvPr/>
        </p:nvSpPr>
        <p:spPr>
          <a:xfrm>
            <a:off x="6355080" y="2084760"/>
            <a:ext cx="48459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800" b="1" u="none" strike="noStrike">
                <a:solidFill>
                  <a:srgbClr val="28D9B7"/>
                </a:solidFill>
                <a:effectLst/>
                <a:uFillTx/>
                <a:latin typeface="Aptos"/>
              </a:rPr>
              <a:t>Who benefits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11"/>
          <p:cNvSpPr/>
          <p:nvPr/>
        </p:nvSpPr>
        <p:spPr>
          <a:xfrm>
            <a:off x="6355080" y="2679120"/>
            <a:ext cx="4845960" cy="25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rgbClr val="F3F8FF"/>
                </a:solidFill>
                <a:effectLst/>
                <a:uFillTx/>
                <a:latin typeface="Aptos"/>
              </a:rPr>
              <a:t>Customers need visibility into their requests.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rgbClr val="F3F8FF"/>
                </a:solidFill>
                <a:effectLst/>
                <a:uFillTx/>
                <a:latin typeface="Aptos"/>
              </a:rPr>
              <a:t>Agents and administrators need assignment, prioritisation and a workload overview.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4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 1"/>
          <p:cNvSpPr/>
          <p:nvPr/>
        </p:nvSpPr>
        <p:spPr>
          <a:xfrm>
            <a:off x="0" y="0"/>
            <a:ext cx="100080" cy="6857640"/>
          </a:xfrm>
          <a:prstGeom prst="rect">
            <a:avLst/>
          </a:prstGeom>
          <a:solidFill>
            <a:srgbClr val="28D9B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TextBox 2"/>
          <p:cNvSpPr/>
          <p:nvPr/>
        </p:nvSpPr>
        <p:spPr>
          <a:xfrm>
            <a:off x="594360" y="311040"/>
            <a:ext cx="10058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100" b="1" u="none" strike="noStrike">
                <a:solidFill>
                  <a:srgbClr val="28D9B7"/>
                </a:solidFill>
                <a:effectLst/>
                <a:uFillTx/>
                <a:latin typeface="Aptos"/>
              </a:rPr>
              <a:t>SMARTDESK  /  CAPSTONE PROJECT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3"/>
          <p:cNvSpPr/>
          <p:nvPr/>
        </p:nvSpPr>
        <p:spPr>
          <a:xfrm>
            <a:off x="594360" y="795600"/>
            <a:ext cx="109724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3100" b="1" u="none" strike="noStrike">
                <a:solidFill>
                  <a:srgbClr val="F3F8FF"/>
                </a:solidFill>
                <a:effectLst/>
                <a:uFillTx/>
                <a:latin typeface="Aptos"/>
              </a:rPr>
              <a:t>Aim, objectives &amp; research questions</a:t>
            </a:r>
            <a:endParaRPr lang="en-US" sz="3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4"/>
          <p:cNvSpPr/>
          <p:nvPr/>
        </p:nvSpPr>
        <p:spPr>
          <a:xfrm>
            <a:off x="594360" y="6446520"/>
            <a:ext cx="91436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000" b="0" u="none" strike="noStrike">
                <a:solidFill>
                  <a:srgbClr val="A1B5C9"/>
                </a:solidFill>
                <a:effectLst/>
                <a:uFillTx/>
                <a:latin typeface="Aptos"/>
              </a:rPr>
              <a:t>F. Schaefer-Gerber  •  W. Sandenbergh   |   29 October 2026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5"/>
          <p:cNvSpPr/>
          <p:nvPr/>
        </p:nvSpPr>
        <p:spPr>
          <a:xfrm>
            <a:off x="11247120" y="641916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100" b="1" u="none" strike="noStrike">
                <a:solidFill>
                  <a:srgbClr val="28D9B7"/>
                </a:solidFill>
                <a:effectLst/>
                <a:uFillTx/>
                <a:latin typeface="Aptos"/>
              </a:rPr>
              <a:t>03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Rounded Rectangle 6"/>
          <p:cNvSpPr/>
          <p:nvPr/>
        </p:nvSpPr>
        <p:spPr>
          <a:xfrm>
            <a:off x="640080" y="1874520"/>
            <a:ext cx="5303160" cy="3748680"/>
          </a:xfrm>
          <a:prstGeom prst="roundRect">
            <a:avLst>
              <a:gd name="adj" fmla="val 16667"/>
            </a:avLst>
          </a:prstGeom>
          <a:solidFill>
            <a:srgbClr val="1222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5" name="TextBox 7"/>
          <p:cNvSpPr/>
          <p:nvPr/>
        </p:nvSpPr>
        <p:spPr>
          <a:xfrm>
            <a:off x="868680" y="2084760"/>
            <a:ext cx="48459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800" b="1" u="none" strike="noStrike">
                <a:solidFill>
                  <a:srgbClr val="28D9B7"/>
                </a:solidFill>
                <a:effectLst/>
                <a:uFillTx/>
                <a:latin typeface="Aptos"/>
              </a:rPr>
              <a:t>Project aim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8"/>
          <p:cNvSpPr/>
          <p:nvPr/>
        </p:nvSpPr>
        <p:spPr>
          <a:xfrm>
            <a:off x="868680" y="2679120"/>
            <a:ext cx="4845960" cy="283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rgbClr val="F3F8FF"/>
                </a:solidFill>
                <a:effectLst/>
                <a:uFillTx/>
                <a:latin typeface="Aptos"/>
              </a:rPr>
              <a:t>Design and implement a usable, role-aware web system for creating, tracking, assigning and resolving support tickets.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Rounded Rectangle 9"/>
          <p:cNvSpPr/>
          <p:nvPr/>
        </p:nvSpPr>
        <p:spPr>
          <a:xfrm>
            <a:off x="6126480" y="1874520"/>
            <a:ext cx="5303160" cy="3748680"/>
          </a:xfrm>
          <a:prstGeom prst="roundRect">
            <a:avLst>
              <a:gd name="adj" fmla="val 16667"/>
            </a:avLst>
          </a:prstGeom>
          <a:solidFill>
            <a:srgbClr val="1222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" name="TextBox 10"/>
          <p:cNvSpPr/>
          <p:nvPr/>
        </p:nvSpPr>
        <p:spPr>
          <a:xfrm>
            <a:off x="6355080" y="2084760"/>
            <a:ext cx="48459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800" b="1" u="none" strike="noStrike">
                <a:solidFill>
                  <a:srgbClr val="28D9B7"/>
                </a:solidFill>
                <a:effectLst/>
                <a:uFillTx/>
                <a:latin typeface="Aptos"/>
              </a:rPr>
              <a:t>Research focus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11"/>
          <p:cNvSpPr/>
          <p:nvPr/>
        </p:nvSpPr>
        <p:spPr>
          <a:xfrm>
            <a:off x="6355080" y="2679120"/>
            <a:ext cx="4845960" cy="283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rgbClr val="F3F8FF"/>
                </a:solidFill>
                <a:effectLst/>
                <a:uFillTx/>
                <a:latin typeface="Aptos"/>
              </a:rPr>
              <a:t>Can a centralised ticket workflow improve visibility?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rgbClr val="F3F8FF"/>
                </a:solidFill>
                <a:effectLst/>
                <a:uFillTx/>
                <a:latin typeface="Aptos"/>
              </a:rPr>
              <a:t>How can access rules isolate customers’ tickets?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rgbClr val="F3F8FF"/>
                </a:solidFill>
                <a:effectLst/>
                <a:uFillTx/>
                <a:latin typeface="Aptos"/>
              </a:rPr>
              <a:t>Can the MVP demonstrate the core lifecycle?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4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Rectangle 1"/>
          <p:cNvSpPr/>
          <p:nvPr/>
        </p:nvSpPr>
        <p:spPr>
          <a:xfrm>
            <a:off x="0" y="0"/>
            <a:ext cx="100080" cy="6857640"/>
          </a:xfrm>
          <a:prstGeom prst="rect">
            <a:avLst/>
          </a:prstGeom>
          <a:solidFill>
            <a:srgbClr val="28D9B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1" name="TextBox 2"/>
          <p:cNvSpPr/>
          <p:nvPr/>
        </p:nvSpPr>
        <p:spPr>
          <a:xfrm>
            <a:off x="594360" y="311040"/>
            <a:ext cx="10058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100" b="1" u="none" strike="noStrike">
                <a:solidFill>
                  <a:srgbClr val="28D9B7"/>
                </a:solidFill>
                <a:effectLst/>
                <a:uFillTx/>
                <a:latin typeface="Aptos"/>
              </a:rPr>
              <a:t>SMARTDESK  /  CAPSTONE PROJECT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Box 3"/>
          <p:cNvSpPr/>
          <p:nvPr/>
        </p:nvSpPr>
        <p:spPr>
          <a:xfrm>
            <a:off x="594360" y="795600"/>
            <a:ext cx="109724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3100" b="1" u="none" strike="noStrike">
                <a:solidFill>
                  <a:srgbClr val="F3F8FF"/>
                </a:solidFill>
                <a:effectLst/>
                <a:uFillTx/>
                <a:latin typeface="Aptos"/>
              </a:rPr>
              <a:t>Literature review &amp; research gap</a:t>
            </a:r>
            <a:endParaRPr lang="en-US" sz="3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4"/>
          <p:cNvSpPr/>
          <p:nvPr/>
        </p:nvSpPr>
        <p:spPr>
          <a:xfrm>
            <a:off x="594360" y="6446520"/>
            <a:ext cx="91436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000" b="0" u="none" strike="noStrike">
                <a:solidFill>
                  <a:srgbClr val="A1B5C9"/>
                </a:solidFill>
                <a:effectLst/>
                <a:uFillTx/>
                <a:latin typeface="Aptos"/>
              </a:rPr>
              <a:t>F. Schaefer-Gerber  •  W. Sandenbergh   |   29 October 2026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TextBox 5"/>
          <p:cNvSpPr/>
          <p:nvPr/>
        </p:nvSpPr>
        <p:spPr>
          <a:xfrm>
            <a:off x="11247120" y="641916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100" b="1" u="none" strike="noStrike">
                <a:solidFill>
                  <a:srgbClr val="28D9B7"/>
                </a:solidFill>
                <a:effectLst/>
                <a:uFillTx/>
                <a:latin typeface="Aptos"/>
              </a:rPr>
              <a:t>04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Rounded Rectangle 6"/>
          <p:cNvSpPr/>
          <p:nvPr/>
        </p:nvSpPr>
        <p:spPr>
          <a:xfrm>
            <a:off x="640080" y="1874520"/>
            <a:ext cx="5303160" cy="3565800"/>
          </a:xfrm>
          <a:prstGeom prst="roundRect">
            <a:avLst>
              <a:gd name="adj" fmla="val 16667"/>
            </a:avLst>
          </a:prstGeom>
          <a:solidFill>
            <a:srgbClr val="1222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6" name="TextBox 7"/>
          <p:cNvSpPr/>
          <p:nvPr/>
        </p:nvSpPr>
        <p:spPr>
          <a:xfrm>
            <a:off x="868680" y="2084760"/>
            <a:ext cx="48459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800" b="1" u="none" strike="noStrike">
                <a:solidFill>
                  <a:srgbClr val="28D9B7"/>
                </a:solidFill>
                <a:effectLst/>
                <a:uFillTx/>
                <a:latin typeface="Aptos"/>
              </a:rPr>
              <a:t>Systems reviewed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8"/>
          <p:cNvSpPr/>
          <p:nvPr/>
        </p:nvSpPr>
        <p:spPr>
          <a:xfrm>
            <a:off x="868680" y="2679120"/>
            <a:ext cx="4845960" cy="265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rgbClr val="F3F8FF"/>
                </a:solidFill>
                <a:effectLst/>
                <a:uFillTx/>
                <a:latin typeface="Aptos"/>
              </a:rPr>
              <a:t>Zendesk, Freshdesk and osTicket provide examples of ticket workflows, agent queues and customer support processes.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Rounded Rectangle 9"/>
          <p:cNvSpPr/>
          <p:nvPr/>
        </p:nvSpPr>
        <p:spPr>
          <a:xfrm>
            <a:off x="6126480" y="1874520"/>
            <a:ext cx="5303160" cy="3565800"/>
          </a:xfrm>
          <a:prstGeom prst="roundRect">
            <a:avLst>
              <a:gd name="adj" fmla="val 16667"/>
            </a:avLst>
          </a:prstGeom>
          <a:solidFill>
            <a:srgbClr val="1222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9" name="TextBox 10"/>
          <p:cNvSpPr/>
          <p:nvPr/>
        </p:nvSpPr>
        <p:spPr>
          <a:xfrm>
            <a:off x="6355080" y="2084760"/>
            <a:ext cx="48459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800" b="1" u="none" strike="noStrike">
                <a:solidFill>
                  <a:srgbClr val="28D9B7"/>
                </a:solidFill>
                <a:effectLst/>
                <a:uFillTx/>
                <a:latin typeface="Aptos"/>
              </a:rPr>
              <a:t>SmartDesk focus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Box 11"/>
          <p:cNvSpPr/>
          <p:nvPr/>
        </p:nvSpPr>
        <p:spPr>
          <a:xfrm>
            <a:off x="6355080" y="2679120"/>
            <a:ext cx="4845960" cy="265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rgbClr val="F3F8FF"/>
                </a:solidFill>
                <a:effectLst/>
                <a:uFillTx/>
                <a:latin typeface="Aptos"/>
              </a:rPr>
              <a:t>A smaller, locally runnable prototype with essential ticket workflows and role-based access rather than a full enterprise feature set.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4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"/>
          <p:cNvSpPr/>
          <p:nvPr/>
        </p:nvSpPr>
        <p:spPr>
          <a:xfrm>
            <a:off x="0" y="0"/>
            <a:ext cx="100080" cy="6857640"/>
          </a:xfrm>
          <a:prstGeom prst="rect">
            <a:avLst/>
          </a:prstGeom>
          <a:solidFill>
            <a:srgbClr val="28D9B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" name="TextBox 2"/>
          <p:cNvSpPr/>
          <p:nvPr/>
        </p:nvSpPr>
        <p:spPr>
          <a:xfrm>
            <a:off x="594360" y="311040"/>
            <a:ext cx="10058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100" b="1" u="none" strike="noStrike">
                <a:solidFill>
                  <a:srgbClr val="28D9B7"/>
                </a:solidFill>
                <a:effectLst/>
                <a:uFillTx/>
                <a:latin typeface="Aptos"/>
              </a:rPr>
              <a:t>SMARTDESK  /  CAPSTONE PROJECT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Box 3"/>
          <p:cNvSpPr/>
          <p:nvPr/>
        </p:nvSpPr>
        <p:spPr>
          <a:xfrm>
            <a:off x="594360" y="795600"/>
            <a:ext cx="109724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3100" b="1" u="none" strike="noStrike">
                <a:solidFill>
                  <a:srgbClr val="F3F8FF"/>
                </a:solidFill>
                <a:effectLst/>
                <a:uFillTx/>
                <a:latin typeface="Aptos"/>
              </a:rPr>
              <a:t>Requirements &amp; methodology</a:t>
            </a:r>
            <a:endParaRPr lang="en-US" sz="3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Box 4"/>
          <p:cNvSpPr/>
          <p:nvPr/>
        </p:nvSpPr>
        <p:spPr>
          <a:xfrm>
            <a:off x="594360" y="6446520"/>
            <a:ext cx="91436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000" b="0" u="none" strike="noStrike">
                <a:solidFill>
                  <a:srgbClr val="A1B5C9"/>
                </a:solidFill>
                <a:effectLst/>
                <a:uFillTx/>
                <a:latin typeface="Aptos"/>
              </a:rPr>
              <a:t>F. Schaefer-Gerber  •  W. Sandenbergh   |   29 October 2026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Box 5"/>
          <p:cNvSpPr/>
          <p:nvPr/>
        </p:nvSpPr>
        <p:spPr>
          <a:xfrm>
            <a:off x="11247120" y="641916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100" b="1" u="none" strike="noStrike">
                <a:solidFill>
                  <a:srgbClr val="28D9B7"/>
                </a:solidFill>
                <a:effectLst/>
                <a:uFillTx/>
                <a:latin typeface="Aptos"/>
              </a:rPr>
              <a:t>05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Rounded Rectangle 6"/>
          <p:cNvSpPr/>
          <p:nvPr/>
        </p:nvSpPr>
        <p:spPr>
          <a:xfrm>
            <a:off x="640080" y="1874520"/>
            <a:ext cx="5303160" cy="3748680"/>
          </a:xfrm>
          <a:prstGeom prst="roundRect">
            <a:avLst>
              <a:gd name="adj" fmla="val 16667"/>
            </a:avLst>
          </a:prstGeom>
          <a:solidFill>
            <a:srgbClr val="1222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7" name="TextBox 7"/>
          <p:cNvSpPr/>
          <p:nvPr/>
        </p:nvSpPr>
        <p:spPr>
          <a:xfrm>
            <a:off x="868680" y="2084760"/>
            <a:ext cx="48459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800" b="1" u="none" strike="noStrike">
                <a:solidFill>
                  <a:srgbClr val="28D9B7"/>
                </a:solidFill>
                <a:effectLst/>
                <a:uFillTx/>
                <a:latin typeface="Aptos"/>
              </a:rPr>
              <a:t>Functional requirements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Box 8"/>
          <p:cNvSpPr/>
          <p:nvPr/>
        </p:nvSpPr>
        <p:spPr>
          <a:xfrm>
            <a:off x="868680" y="2679120"/>
            <a:ext cx="4845960" cy="283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rgbClr val="F3F8FF"/>
                </a:solidFill>
                <a:effectLst/>
                <a:uFillTx/>
                <a:latin typeface="Aptos"/>
              </a:rPr>
              <a:t>Customer registration and login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rgbClr val="F3F8FF"/>
                </a:solidFill>
                <a:effectLst/>
                <a:uFillTx/>
                <a:latin typeface="Aptos"/>
              </a:rPr>
              <a:t>Ticket creation and viewing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rgbClr val="F3F8FF"/>
                </a:solidFill>
                <a:effectLst/>
                <a:uFillTx/>
                <a:latin typeface="Aptos"/>
              </a:rPr>
              <a:t>Agent assignment and status updates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rgbClr val="F3F8FF"/>
                </a:solidFill>
                <a:effectLst/>
                <a:uFillTx/>
                <a:latin typeface="Aptos"/>
              </a:rPr>
              <a:t>Comments and dashboard summaries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Rounded Rectangle 9"/>
          <p:cNvSpPr/>
          <p:nvPr/>
        </p:nvSpPr>
        <p:spPr>
          <a:xfrm>
            <a:off x="6126480" y="1874520"/>
            <a:ext cx="5303160" cy="3748680"/>
          </a:xfrm>
          <a:prstGeom prst="roundRect">
            <a:avLst>
              <a:gd name="adj" fmla="val 16667"/>
            </a:avLst>
          </a:prstGeom>
          <a:solidFill>
            <a:srgbClr val="1222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0" name="TextBox 10"/>
          <p:cNvSpPr/>
          <p:nvPr/>
        </p:nvSpPr>
        <p:spPr>
          <a:xfrm>
            <a:off x="6355080" y="2084760"/>
            <a:ext cx="48459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800" b="1" u="none" strike="noStrike">
                <a:solidFill>
                  <a:srgbClr val="28D9B7"/>
                </a:solidFill>
                <a:effectLst/>
                <a:uFillTx/>
                <a:latin typeface="Aptos"/>
              </a:rPr>
              <a:t>Approach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Box 11"/>
          <p:cNvSpPr/>
          <p:nvPr/>
        </p:nvSpPr>
        <p:spPr>
          <a:xfrm>
            <a:off x="6355080" y="2679120"/>
            <a:ext cx="4845960" cy="283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rgbClr val="F3F8FF"/>
                </a:solidFill>
                <a:effectLst/>
                <a:uFillTx/>
                <a:latin typeface="Aptos"/>
              </a:rPr>
              <a:t>Iterative implementation and testing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rgbClr val="F3F8FF"/>
                </a:solidFill>
                <a:effectLst/>
                <a:uFillTx/>
                <a:latin typeface="Aptos"/>
              </a:rPr>
              <a:t>Flask routes + Jinja2 templates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rgbClr val="F3F8FF"/>
                </a:solidFill>
                <a:effectLst/>
                <a:uFillTx/>
                <a:latin typeface="Aptos"/>
              </a:rPr>
              <a:t>SQLite relational data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rgbClr val="F3F8FF"/>
                </a:solidFill>
                <a:effectLst/>
                <a:uFillTx/>
                <a:latin typeface="Aptos"/>
              </a:rPr>
              <a:t>Role and ownership checks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4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Rectangle 1"/>
          <p:cNvSpPr/>
          <p:nvPr/>
        </p:nvSpPr>
        <p:spPr>
          <a:xfrm>
            <a:off x="0" y="0"/>
            <a:ext cx="100080" cy="6857640"/>
          </a:xfrm>
          <a:prstGeom prst="rect">
            <a:avLst/>
          </a:prstGeom>
          <a:solidFill>
            <a:srgbClr val="28D9B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3" name="TextBox 2"/>
          <p:cNvSpPr/>
          <p:nvPr/>
        </p:nvSpPr>
        <p:spPr>
          <a:xfrm>
            <a:off x="594360" y="311040"/>
            <a:ext cx="10058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100" b="1" u="none" strike="noStrike">
                <a:solidFill>
                  <a:srgbClr val="28D9B7"/>
                </a:solidFill>
                <a:effectLst/>
                <a:uFillTx/>
                <a:latin typeface="Aptos"/>
              </a:rPr>
              <a:t>SMARTDESK  /  CAPSTONE PROJECT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Box 3"/>
          <p:cNvSpPr/>
          <p:nvPr/>
        </p:nvSpPr>
        <p:spPr>
          <a:xfrm>
            <a:off x="594360" y="795600"/>
            <a:ext cx="109724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3100" b="1" u="none" strike="noStrike">
                <a:solidFill>
                  <a:srgbClr val="F3F8FF"/>
                </a:solidFill>
                <a:effectLst/>
                <a:uFillTx/>
                <a:latin typeface="Aptos"/>
              </a:rPr>
              <a:t>System architecture</a:t>
            </a:r>
            <a:endParaRPr lang="en-US" sz="3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Box 4"/>
          <p:cNvSpPr/>
          <p:nvPr/>
        </p:nvSpPr>
        <p:spPr>
          <a:xfrm>
            <a:off x="594360" y="6446520"/>
            <a:ext cx="91436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000" b="0" u="none" strike="noStrike">
                <a:solidFill>
                  <a:srgbClr val="A1B5C9"/>
                </a:solidFill>
                <a:effectLst/>
                <a:uFillTx/>
                <a:latin typeface="Aptos"/>
              </a:rPr>
              <a:t>F. Schaefer-Gerber  •  W. Sandenbergh   |   29 October 2026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Box 5"/>
          <p:cNvSpPr/>
          <p:nvPr/>
        </p:nvSpPr>
        <p:spPr>
          <a:xfrm>
            <a:off x="11247120" y="641916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100" b="1" u="none" strike="noStrike">
                <a:solidFill>
                  <a:srgbClr val="28D9B7"/>
                </a:solidFill>
                <a:effectLst/>
                <a:uFillTx/>
                <a:latin typeface="Aptos"/>
              </a:rPr>
              <a:t>06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Rounded Rectangle 6"/>
          <p:cNvSpPr/>
          <p:nvPr/>
        </p:nvSpPr>
        <p:spPr>
          <a:xfrm>
            <a:off x="640080" y="2011680"/>
            <a:ext cx="3291480" cy="3108600"/>
          </a:xfrm>
          <a:prstGeom prst="roundRect">
            <a:avLst>
              <a:gd name="adj" fmla="val 16667"/>
            </a:avLst>
          </a:prstGeom>
          <a:solidFill>
            <a:srgbClr val="1222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8" name="TextBox 7"/>
          <p:cNvSpPr/>
          <p:nvPr/>
        </p:nvSpPr>
        <p:spPr>
          <a:xfrm>
            <a:off x="868680" y="2221920"/>
            <a:ext cx="28342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800" b="1" u="none" strike="noStrike">
                <a:solidFill>
                  <a:srgbClr val="28D9B7"/>
                </a:solidFill>
                <a:effectLst/>
                <a:uFillTx/>
                <a:latin typeface="Aptos"/>
              </a:rPr>
              <a:t>Presentation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Box 8"/>
          <p:cNvSpPr/>
          <p:nvPr/>
        </p:nvSpPr>
        <p:spPr>
          <a:xfrm>
            <a:off x="868680" y="2816280"/>
            <a:ext cx="283428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rgbClr val="F3F8FF"/>
                </a:solidFill>
                <a:effectLst/>
                <a:uFillTx/>
                <a:latin typeface="Aptos"/>
              </a:rPr>
              <a:t>Browser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rgbClr val="F3F8FF"/>
                </a:solidFill>
                <a:effectLst/>
                <a:uFillTx/>
                <a:latin typeface="Aptos"/>
              </a:rPr>
              <a:t>Jinja2 HTML templates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rgbClr val="F3F8FF"/>
                </a:solidFill>
                <a:effectLst/>
                <a:uFillTx/>
                <a:latin typeface="Aptos"/>
              </a:rPr>
              <a:t>CSS forms and dashboards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Rounded Rectangle 9"/>
          <p:cNvSpPr/>
          <p:nvPr/>
        </p:nvSpPr>
        <p:spPr>
          <a:xfrm>
            <a:off x="4453200" y="2011680"/>
            <a:ext cx="3291480" cy="3108600"/>
          </a:xfrm>
          <a:prstGeom prst="roundRect">
            <a:avLst>
              <a:gd name="adj" fmla="val 16667"/>
            </a:avLst>
          </a:prstGeom>
          <a:solidFill>
            <a:srgbClr val="1222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1" name="TextBox 10"/>
          <p:cNvSpPr/>
          <p:nvPr/>
        </p:nvSpPr>
        <p:spPr>
          <a:xfrm>
            <a:off x="4681800" y="2221920"/>
            <a:ext cx="28342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800" b="1" u="none" strike="noStrike">
                <a:solidFill>
                  <a:srgbClr val="28D9B7"/>
                </a:solidFill>
                <a:effectLst/>
                <a:uFillTx/>
                <a:latin typeface="Aptos"/>
              </a:rPr>
              <a:t>Application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Box 11"/>
          <p:cNvSpPr/>
          <p:nvPr/>
        </p:nvSpPr>
        <p:spPr>
          <a:xfrm>
            <a:off x="4681800" y="2816280"/>
            <a:ext cx="283428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rgbClr val="F3F8FF"/>
                </a:solidFill>
                <a:effectLst/>
                <a:uFillTx/>
                <a:latin typeface="Aptos"/>
              </a:rPr>
              <a:t>Python Flask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rgbClr val="F3F8FF"/>
                </a:solidFill>
                <a:effectLst/>
                <a:uFillTx/>
                <a:latin typeface="Aptos"/>
              </a:rPr>
              <a:t>Routing and validation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rgbClr val="F3F8FF"/>
                </a:solidFill>
                <a:effectLst/>
                <a:uFillTx/>
                <a:latin typeface="Aptos"/>
              </a:rPr>
              <a:t>Sessions and permissions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Rounded Rectangle 12"/>
          <p:cNvSpPr/>
          <p:nvPr/>
        </p:nvSpPr>
        <p:spPr>
          <a:xfrm>
            <a:off x="8266320" y="2011680"/>
            <a:ext cx="3291480" cy="3108600"/>
          </a:xfrm>
          <a:prstGeom prst="roundRect">
            <a:avLst>
              <a:gd name="adj" fmla="val 16667"/>
            </a:avLst>
          </a:prstGeom>
          <a:solidFill>
            <a:srgbClr val="1222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4" name="TextBox 13"/>
          <p:cNvSpPr/>
          <p:nvPr/>
        </p:nvSpPr>
        <p:spPr>
          <a:xfrm>
            <a:off x="8494920" y="2221920"/>
            <a:ext cx="28342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800" b="1" u="none" strike="noStrike">
                <a:solidFill>
                  <a:srgbClr val="28D9B7"/>
                </a:solidFill>
                <a:effectLst/>
                <a:uFillTx/>
                <a:latin typeface="Aptos"/>
              </a:rPr>
              <a:t>Persistence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Box 14"/>
          <p:cNvSpPr/>
          <p:nvPr/>
        </p:nvSpPr>
        <p:spPr>
          <a:xfrm>
            <a:off x="8494920" y="2816280"/>
            <a:ext cx="283428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rgbClr val="F3F8FF"/>
                </a:solidFill>
                <a:effectLst/>
                <a:uFillTx/>
                <a:latin typeface="Aptos"/>
              </a:rPr>
              <a:t>SQLite database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rgbClr val="F3F8FF"/>
                </a:solidFill>
                <a:effectLst/>
                <a:uFillTx/>
                <a:latin typeface="Aptos"/>
              </a:rPr>
              <a:t>Users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rgbClr val="F3F8FF"/>
                </a:solidFill>
                <a:effectLst/>
                <a:uFillTx/>
                <a:latin typeface="Aptos"/>
              </a:rPr>
              <a:t>Tickets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rgbClr val="F3F8FF"/>
                </a:solidFill>
                <a:effectLst/>
                <a:uFillTx/>
                <a:latin typeface="Aptos"/>
              </a:rPr>
              <a:t>Comments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4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Rectangle 1"/>
          <p:cNvSpPr/>
          <p:nvPr/>
        </p:nvSpPr>
        <p:spPr>
          <a:xfrm>
            <a:off x="0" y="0"/>
            <a:ext cx="100080" cy="6857640"/>
          </a:xfrm>
          <a:prstGeom prst="rect">
            <a:avLst/>
          </a:prstGeom>
          <a:solidFill>
            <a:srgbClr val="28D9B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" name="TextBox 2"/>
          <p:cNvSpPr/>
          <p:nvPr/>
        </p:nvSpPr>
        <p:spPr>
          <a:xfrm>
            <a:off x="594360" y="311040"/>
            <a:ext cx="10058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100" b="1" u="none" strike="noStrike">
                <a:solidFill>
                  <a:srgbClr val="28D9B7"/>
                </a:solidFill>
                <a:effectLst/>
                <a:uFillTx/>
                <a:latin typeface="Aptos"/>
              </a:rPr>
              <a:t>SMARTDESK  /  CAPSTONE PROJECT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Box 3"/>
          <p:cNvSpPr/>
          <p:nvPr/>
        </p:nvSpPr>
        <p:spPr>
          <a:xfrm>
            <a:off x="594360" y="795600"/>
            <a:ext cx="109724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3100" b="1" u="none" strike="noStrike">
                <a:solidFill>
                  <a:srgbClr val="F3F8FF"/>
                </a:solidFill>
                <a:effectLst/>
                <a:uFillTx/>
                <a:latin typeface="Aptos"/>
              </a:rPr>
              <a:t>Database &amp; ticket lifecycle</a:t>
            </a:r>
            <a:endParaRPr lang="en-US" sz="3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Box 4"/>
          <p:cNvSpPr/>
          <p:nvPr/>
        </p:nvSpPr>
        <p:spPr>
          <a:xfrm>
            <a:off x="594360" y="6446520"/>
            <a:ext cx="91436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000" b="0" u="none" strike="noStrike">
                <a:solidFill>
                  <a:srgbClr val="A1B5C9"/>
                </a:solidFill>
                <a:effectLst/>
                <a:uFillTx/>
                <a:latin typeface="Aptos"/>
              </a:rPr>
              <a:t>F. Schaefer-Gerber  •  W. Sandenbergh   |   29 October 2026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Box 5"/>
          <p:cNvSpPr/>
          <p:nvPr/>
        </p:nvSpPr>
        <p:spPr>
          <a:xfrm>
            <a:off x="11247120" y="641916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100" b="1" u="none" strike="noStrike">
                <a:solidFill>
                  <a:srgbClr val="28D9B7"/>
                </a:solidFill>
                <a:effectLst/>
                <a:uFillTx/>
                <a:latin typeface="Aptos"/>
              </a:rPr>
              <a:t>07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Rounded Rectangle 6"/>
          <p:cNvSpPr/>
          <p:nvPr/>
        </p:nvSpPr>
        <p:spPr>
          <a:xfrm>
            <a:off x="640080" y="1920240"/>
            <a:ext cx="5303160" cy="3748680"/>
          </a:xfrm>
          <a:prstGeom prst="roundRect">
            <a:avLst>
              <a:gd name="adj" fmla="val 16667"/>
            </a:avLst>
          </a:prstGeom>
          <a:solidFill>
            <a:srgbClr val="1222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2" name="TextBox 7"/>
          <p:cNvSpPr/>
          <p:nvPr/>
        </p:nvSpPr>
        <p:spPr>
          <a:xfrm>
            <a:off x="868680" y="2130480"/>
            <a:ext cx="48459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800" b="1" u="none" strike="noStrike">
                <a:solidFill>
                  <a:srgbClr val="28D9B7"/>
                </a:solidFill>
                <a:effectLst/>
                <a:uFillTx/>
                <a:latin typeface="Aptos"/>
              </a:rPr>
              <a:t>Core entities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Box 8"/>
          <p:cNvSpPr/>
          <p:nvPr/>
        </p:nvSpPr>
        <p:spPr>
          <a:xfrm>
            <a:off x="868680" y="2724840"/>
            <a:ext cx="4845960" cy="283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rgbClr val="F3F8FF"/>
                </a:solidFill>
                <a:effectLst/>
                <a:uFillTx/>
                <a:latin typeface="Aptos"/>
              </a:rPr>
              <a:t>USERS: account identity and role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rgbClr val="F3F8FF"/>
                </a:solidFill>
                <a:effectLst/>
                <a:uFillTx/>
                <a:latin typeface="Aptos"/>
              </a:rPr>
              <a:t>TICKETS: customer, assignee, priority, status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rgbClr val="F3F8FF"/>
                </a:solidFill>
                <a:effectLst/>
                <a:uFillTx/>
                <a:latin typeface="Aptos"/>
              </a:rPr>
              <a:t>COMMENTS: ticket discussion history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Rounded Rectangle 9"/>
          <p:cNvSpPr/>
          <p:nvPr/>
        </p:nvSpPr>
        <p:spPr>
          <a:xfrm>
            <a:off x="6126480" y="1920240"/>
            <a:ext cx="5303160" cy="3748680"/>
          </a:xfrm>
          <a:prstGeom prst="roundRect">
            <a:avLst>
              <a:gd name="adj" fmla="val 16667"/>
            </a:avLst>
          </a:prstGeom>
          <a:solidFill>
            <a:srgbClr val="1222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5" name="TextBox 10"/>
          <p:cNvSpPr/>
          <p:nvPr/>
        </p:nvSpPr>
        <p:spPr>
          <a:xfrm>
            <a:off x="6355080" y="2130480"/>
            <a:ext cx="48459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800" b="1" u="none" strike="noStrike">
                <a:solidFill>
                  <a:srgbClr val="28D9B7"/>
                </a:solidFill>
                <a:effectLst/>
                <a:uFillTx/>
                <a:latin typeface="Aptos"/>
              </a:rPr>
              <a:t>Typical workflow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Box 11"/>
          <p:cNvSpPr/>
          <p:nvPr/>
        </p:nvSpPr>
        <p:spPr>
          <a:xfrm>
            <a:off x="6355080" y="2724840"/>
            <a:ext cx="4845960" cy="283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rgbClr val="F3F8FF"/>
                </a:solidFill>
                <a:effectLst/>
                <a:uFillTx/>
                <a:latin typeface="Aptos"/>
              </a:rPr>
              <a:t>Customer creates ticket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rgbClr val="F3F8FF"/>
                </a:solidFill>
                <a:effectLst/>
                <a:uFillTx/>
                <a:latin typeface="Aptos"/>
              </a:rPr>
              <a:t>→ Agent is assigned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rgbClr val="F3F8FF"/>
                </a:solidFill>
                <a:effectLst/>
                <a:uFillTx/>
                <a:latin typeface="Aptos"/>
              </a:rPr>
              <a:t>→ In Progress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rgbClr val="F3F8FF"/>
                </a:solidFill>
                <a:effectLst/>
                <a:uFillTx/>
                <a:latin typeface="Aptos"/>
              </a:rPr>
              <a:t>→ Reply / investigation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rgbClr val="F3F8FF"/>
                </a:solidFill>
                <a:effectLst/>
                <a:uFillTx/>
                <a:latin typeface="Aptos"/>
              </a:rPr>
              <a:t>→ Resolved / Closed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4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Rectangle 1"/>
          <p:cNvSpPr/>
          <p:nvPr/>
        </p:nvSpPr>
        <p:spPr>
          <a:xfrm>
            <a:off x="0" y="0"/>
            <a:ext cx="100080" cy="6857640"/>
          </a:xfrm>
          <a:prstGeom prst="rect">
            <a:avLst/>
          </a:prstGeom>
          <a:solidFill>
            <a:srgbClr val="28D9B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8" name="TextBox 2"/>
          <p:cNvSpPr/>
          <p:nvPr/>
        </p:nvSpPr>
        <p:spPr>
          <a:xfrm>
            <a:off x="594360" y="311040"/>
            <a:ext cx="10058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100" b="1" u="none" strike="noStrike">
                <a:solidFill>
                  <a:srgbClr val="28D9B7"/>
                </a:solidFill>
                <a:effectLst/>
                <a:uFillTx/>
                <a:latin typeface="Aptos"/>
              </a:rPr>
              <a:t>DEMONSTRATION  /  WIAN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Box 3"/>
          <p:cNvSpPr/>
          <p:nvPr/>
        </p:nvSpPr>
        <p:spPr>
          <a:xfrm>
            <a:off x="594360" y="795600"/>
            <a:ext cx="109724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3100" b="1" u="none" strike="noStrike">
                <a:solidFill>
                  <a:srgbClr val="F3F8FF"/>
                </a:solidFill>
                <a:effectLst/>
                <a:uFillTx/>
                <a:latin typeface="Aptos"/>
              </a:rPr>
              <a:t>Live demo: customer journey</a:t>
            </a:r>
            <a:endParaRPr lang="en-US" sz="3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Box 4"/>
          <p:cNvSpPr/>
          <p:nvPr/>
        </p:nvSpPr>
        <p:spPr>
          <a:xfrm>
            <a:off x="594360" y="6446520"/>
            <a:ext cx="91436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000" b="0" u="none" strike="noStrike">
                <a:solidFill>
                  <a:srgbClr val="A1B5C9"/>
                </a:solidFill>
                <a:effectLst/>
                <a:uFillTx/>
                <a:latin typeface="Aptos"/>
              </a:rPr>
              <a:t>F. Schaefer-Gerber  •  W. Sandenbergh   |   29 October 2026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Box 5"/>
          <p:cNvSpPr/>
          <p:nvPr/>
        </p:nvSpPr>
        <p:spPr>
          <a:xfrm>
            <a:off x="11247120" y="641916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100" b="1" u="none" strike="noStrike">
                <a:solidFill>
                  <a:srgbClr val="28D9B7"/>
                </a:solidFill>
                <a:effectLst/>
                <a:uFillTx/>
                <a:latin typeface="Aptos"/>
              </a:rPr>
              <a:t>08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Rounded Rectangle 6"/>
          <p:cNvSpPr/>
          <p:nvPr/>
        </p:nvSpPr>
        <p:spPr>
          <a:xfrm>
            <a:off x="640080" y="1874520"/>
            <a:ext cx="5303160" cy="3748680"/>
          </a:xfrm>
          <a:prstGeom prst="roundRect">
            <a:avLst>
              <a:gd name="adj" fmla="val 16667"/>
            </a:avLst>
          </a:prstGeom>
          <a:solidFill>
            <a:srgbClr val="1222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3" name="TextBox 7"/>
          <p:cNvSpPr/>
          <p:nvPr/>
        </p:nvSpPr>
        <p:spPr>
          <a:xfrm>
            <a:off x="868680" y="2084760"/>
            <a:ext cx="48459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800" b="1" u="none" strike="noStrike">
                <a:solidFill>
                  <a:srgbClr val="28D9B7"/>
                </a:solidFill>
                <a:effectLst/>
                <a:uFillTx/>
                <a:latin typeface="Aptos"/>
              </a:rPr>
              <a:t>Step 1 — Customer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Box 8"/>
          <p:cNvSpPr/>
          <p:nvPr/>
        </p:nvSpPr>
        <p:spPr>
          <a:xfrm>
            <a:off x="868680" y="2679120"/>
            <a:ext cx="4845960" cy="283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rgbClr val="F3F8FF"/>
                </a:solidFill>
                <a:effectLst/>
                <a:uFillTx/>
                <a:latin typeface="Aptos"/>
              </a:rPr>
              <a:t>Log in as customer@smartdesk.local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rgbClr val="F3F8FF"/>
                </a:solidFill>
                <a:effectLst/>
                <a:uFillTx/>
                <a:latin typeface="Aptos"/>
              </a:rPr>
              <a:t>Show own-ticket dashboard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rgbClr val="F3F8FF"/>
                </a:solidFill>
                <a:effectLst/>
                <a:uFillTx/>
                <a:latin typeface="Aptos"/>
              </a:rPr>
              <a:t>Attempt empty title submission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rgbClr val="F3F8FF"/>
                </a:solidFill>
                <a:effectLst/>
                <a:uFillTx/>
                <a:latin typeface="Aptos"/>
              </a:rPr>
              <a:t>Create a valid ticket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Rounded Rectangle 9"/>
          <p:cNvSpPr/>
          <p:nvPr/>
        </p:nvSpPr>
        <p:spPr>
          <a:xfrm>
            <a:off x="6126480" y="1874520"/>
            <a:ext cx="5303160" cy="3748680"/>
          </a:xfrm>
          <a:prstGeom prst="roundRect">
            <a:avLst>
              <a:gd name="adj" fmla="val 16667"/>
            </a:avLst>
          </a:prstGeom>
          <a:solidFill>
            <a:srgbClr val="1222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6" name="TextBox 10"/>
          <p:cNvSpPr/>
          <p:nvPr/>
        </p:nvSpPr>
        <p:spPr>
          <a:xfrm>
            <a:off x="6355080" y="2084760"/>
            <a:ext cx="48459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800" b="1" u="none" strike="noStrike">
                <a:solidFill>
                  <a:srgbClr val="28D9B7"/>
                </a:solidFill>
                <a:effectLst/>
                <a:uFillTx/>
                <a:latin typeface="Aptos"/>
              </a:rPr>
              <a:t>Expected evidence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Box 11"/>
          <p:cNvSpPr/>
          <p:nvPr/>
        </p:nvSpPr>
        <p:spPr>
          <a:xfrm>
            <a:off x="6355080" y="2679120"/>
            <a:ext cx="4845960" cy="283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rgbClr val="F3F8FF"/>
                </a:solidFill>
                <a:effectLst/>
                <a:uFillTx/>
                <a:latin typeface="Aptos"/>
              </a:rPr>
              <a:t>Validation should reject incomplete input.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rgbClr val="F3F8FF"/>
                </a:solidFill>
                <a:effectLst/>
                <a:uFillTx/>
                <a:latin typeface="Aptos"/>
              </a:rPr>
              <a:t>A successful ticket should receive an ID and appear in the customer’s list.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rgbClr val="F3F8FF"/>
                </a:solidFill>
                <a:effectLst/>
                <a:uFillTx/>
                <a:latin typeface="Aptos"/>
              </a:rPr>
              <a:t>Confirm behaviour live.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4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Rectangle 1"/>
          <p:cNvSpPr/>
          <p:nvPr/>
        </p:nvSpPr>
        <p:spPr>
          <a:xfrm>
            <a:off x="0" y="0"/>
            <a:ext cx="100080" cy="6857640"/>
          </a:xfrm>
          <a:prstGeom prst="rect">
            <a:avLst/>
          </a:prstGeom>
          <a:solidFill>
            <a:srgbClr val="28D9B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9" name="TextBox 2"/>
          <p:cNvSpPr/>
          <p:nvPr/>
        </p:nvSpPr>
        <p:spPr>
          <a:xfrm>
            <a:off x="594360" y="311040"/>
            <a:ext cx="10058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100" b="1" u="none" strike="noStrike">
                <a:solidFill>
                  <a:srgbClr val="28D9B7"/>
                </a:solidFill>
                <a:effectLst/>
                <a:uFillTx/>
                <a:latin typeface="Aptos"/>
              </a:rPr>
              <a:t>DEMONSTRATION  /  WIAN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Box 3"/>
          <p:cNvSpPr/>
          <p:nvPr/>
        </p:nvSpPr>
        <p:spPr>
          <a:xfrm>
            <a:off x="594360" y="795600"/>
            <a:ext cx="109724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3100" b="1" u="none" strike="noStrike">
                <a:solidFill>
                  <a:srgbClr val="F3F8FF"/>
                </a:solidFill>
                <a:effectLst/>
                <a:uFillTx/>
                <a:latin typeface="Aptos"/>
              </a:rPr>
              <a:t>Live demo: staff &amp; security</a:t>
            </a:r>
            <a:endParaRPr lang="en-US" sz="3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Box 4"/>
          <p:cNvSpPr/>
          <p:nvPr/>
        </p:nvSpPr>
        <p:spPr>
          <a:xfrm>
            <a:off x="594360" y="6446520"/>
            <a:ext cx="91436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000" b="0" u="none" strike="noStrike">
                <a:solidFill>
                  <a:srgbClr val="A1B5C9"/>
                </a:solidFill>
                <a:effectLst/>
                <a:uFillTx/>
                <a:latin typeface="Aptos"/>
              </a:rPr>
              <a:t>F. Schaefer-Gerber  •  W. Sandenbergh   |   29 October 2026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Box 5"/>
          <p:cNvSpPr/>
          <p:nvPr/>
        </p:nvSpPr>
        <p:spPr>
          <a:xfrm>
            <a:off x="11247120" y="641916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100" b="1" u="none" strike="noStrike">
                <a:solidFill>
                  <a:srgbClr val="28D9B7"/>
                </a:solidFill>
                <a:effectLst/>
                <a:uFillTx/>
                <a:latin typeface="Aptos"/>
              </a:rPr>
              <a:t>09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Rounded Rectangle 6"/>
          <p:cNvSpPr/>
          <p:nvPr/>
        </p:nvSpPr>
        <p:spPr>
          <a:xfrm>
            <a:off x="640080" y="1874520"/>
            <a:ext cx="5303160" cy="3748680"/>
          </a:xfrm>
          <a:prstGeom prst="roundRect">
            <a:avLst>
              <a:gd name="adj" fmla="val 16667"/>
            </a:avLst>
          </a:prstGeom>
          <a:solidFill>
            <a:srgbClr val="1222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4" name="TextBox 7"/>
          <p:cNvSpPr/>
          <p:nvPr/>
        </p:nvSpPr>
        <p:spPr>
          <a:xfrm>
            <a:off x="868680" y="2084760"/>
            <a:ext cx="48459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800" b="1" u="none" strike="noStrike">
                <a:solidFill>
                  <a:srgbClr val="28D9B7"/>
                </a:solidFill>
                <a:effectLst/>
                <a:uFillTx/>
                <a:latin typeface="Aptos"/>
              </a:rPr>
              <a:t>Step 2 — Agent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Box 8"/>
          <p:cNvSpPr/>
          <p:nvPr/>
        </p:nvSpPr>
        <p:spPr>
          <a:xfrm>
            <a:off x="868680" y="2679120"/>
            <a:ext cx="4845960" cy="283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rgbClr val="F3F8FF"/>
                </a:solidFill>
                <a:effectLst/>
                <a:uFillTx/>
                <a:latin typeface="Aptos"/>
              </a:rPr>
              <a:t>Log in as agent@smartdesk.local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rgbClr val="F3F8FF"/>
                </a:solidFill>
                <a:effectLst/>
                <a:uFillTx/>
                <a:latin typeface="Aptos"/>
              </a:rPr>
              <a:t>Assign the new ticket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rgbClr val="F3F8FF"/>
                </a:solidFill>
                <a:effectLst/>
                <a:uFillTx/>
                <a:latin typeface="Aptos"/>
              </a:rPr>
              <a:t>Move status to In Progress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rgbClr val="F3F8FF"/>
                </a:solidFill>
                <a:effectLst/>
                <a:uFillTx/>
                <a:latin typeface="Aptos"/>
              </a:rPr>
              <a:t>Post a customer-facing reply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Rounded Rectangle 9"/>
          <p:cNvSpPr/>
          <p:nvPr/>
        </p:nvSpPr>
        <p:spPr>
          <a:xfrm>
            <a:off x="6126480" y="1874520"/>
            <a:ext cx="5303160" cy="3748680"/>
          </a:xfrm>
          <a:prstGeom prst="roundRect">
            <a:avLst>
              <a:gd name="adj" fmla="val 16667"/>
            </a:avLst>
          </a:prstGeom>
          <a:solidFill>
            <a:srgbClr val="1222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7" name="TextBox 10"/>
          <p:cNvSpPr/>
          <p:nvPr/>
        </p:nvSpPr>
        <p:spPr>
          <a:xfrm>
            <a:off x="6355080" y="2084760"/>
            <a:ext cx="48459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800" b="1" u="none" strike="noStrike">
                <a:solidFill>
                  <a:srgbClr val="28D9B7"/>
                </a:solidFill>
                <a:effectLst/>
                <a:uFillTx/>
                <a:latin typeface="Aptos"/>
              </a:rPr>
              <a:t>Step 3 — Isolation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Box 11"/>
          <p:cNvSpPr/>
          <p:nvPr/>
        </p:nvSpPr>
        <p:spPr>
          <a:xfrm>
            <a:off x="6355080" y="2679120"/>
            <a:ext cx="4845960" cy="283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rgbClr val="F3F8FF"/>
                </a:solidFill>
                <a:effectLst/>
                <a:uFillTx/>
                <a:latin typeface="Aptos"/>
              </a:rPr>
              <a:t>Use another customer account and attempt to access the first customer’s ticket URL.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rgbClr val="F3F8FF"/>
                </a:solidFill>
                <a:effectLst/>
                <a:uFillTx/>
                <a:latin typeface="Aptos"/>
              </a:rPr>
              <a:t>Expected: access denied (script specifies 403). Verify live.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4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Rectangle 1"/>
          <p:cNvSpPr/>
          <p:nvPr/>
        </p:nvSpPr>
        <p:spPr>
          <a:xfrm>
            <a:off x="0" y="0"/>
            <a:ext cx="100080" cy="6857640"/>
          </a:xfrm>
          <a:prstGeom prst="rect">
            <a:avLst/>
          </a:prstGeom>
          <a:solidFill>
            <a:srgbClr val="28D9B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0" name="TextBox 2"/>
          <p:cNvSpPr/>
          <p:nvPr/>
        </p:nvSpPr>
        <p:spPr>
          <a:xfrm>
            <a:off x="594360" y="311040"/>
            <a:ext cx="10058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100" b="1" u="none" strike="noStrike">
                <a:solidFill>
                  <a:srgbClr val="28D9B7"/>
                </a:solidFill>
                <a:effectLst/>
                <a:uFillTx/>
                <a:latin typeface="Aptos"/>
              </a:rPr>
              <a:t>DEMONSTRATION  /  WIAN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Box 3"/>
          <p:cNvSpPr/>
          <p:nvPr/>
        </p:nvSpPr>
        <p:spPr>
          <a:xfrm>
            <a:off x="594360" y="795600"/>
            <a:ext cx="109724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3100" b="1" u="none" strike="noStrike">
                <a:solidFill>
                  <a:srgbClr val="F3F8FF"/>
                </a:solidFill>
                <a:effectLst/>
                <a:uFillTx/>
                <a:latin typeface="Aptos"/>
              </a:rPr>
              <a:t>Live demo: administrator</a:t>
            </a:r>
            <a:endParaRPr lang="en-US" sz="3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Box 4"/>
          <p:cNvSpPr/>
          <p:nvPr/>
        </p:nvSpPr>
        <p:spPr>
          <a:xfrm>
            <a:off x="594360" y="6446520"/>
            <a:ext cx="91436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000" b="0" u="none" strike="noStrike">
                <a:solidFill>
                  <a:srgbClr val="A1B5C9"/>
                </a:solidFill>
                <a:effectLst/>
                <a:uFillTx/>
                <a:latin typeface="Aptos"/>
              </a:rPr>
              <a:t>F. Schaefer-Gerber  •  W. Sandenbergh   |   29 October 2026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Box 5"/>
          <p:cNvSpPr/>
          <p:nvPr/>
        </p:nvSpPr>
        <p:spPr>
          <a:xfrm>
            <a:off x="11247120" y="641916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100" b="1" u="none" strike="noStrike">
                <a:solidFill>
                  <a:srgbClr val="28D9B7"/>
                </a:solidFill>
                <a:effectLst/>
                <a:uFillTx/>
                <a:latin typeface="Aptos"/>
              </a:rPr>
              <a:t>10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Rounded Rectangle 6"/>
          <p:cNvSpPr/>
          <p:nvPr/>
        </p:nvSpPr>
        <p:spPr>
          <a:xfrm>
            <a:off x="640080" y="1920240"/>
            <a:ext cx="10789560" cy="3565800"/>
          </a:xfrm>
          <a:prstGeom prst="roundRect">
            <a:avLst>
              <a:gd name="adj" fmla="val 16667"/>
            </a:avLst>
          </a:prstGeom>
          <a:solidFill>
            <a:srgbClr val="1222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5" name="TextBox 7"/>
          <p:cNvSpPr/>
          <p:nvPr/>
        </p:nvSpPr>
        <p:spPr>
          <a:xfrm>
            <a:off x="868680" y="2130480"/>
            <a:ext cx="103323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800" b="1" u="none" strike="noStrike">
                <a:solidFill>
                  <a:srgbClr val="28D9B7"/>
                </a:solidFill>
                <a:effectLst/>
                <a:uFillTx/>
                <a:latin typeface="Aptos"/>
              </a:rPr>
              <a:t>Step 4 — Dashboard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Box 8"/>
          <p:cNvSpPr/>
          <p:nvPr/>
        </p:nvSpPr>
        <p:spPr>
          <a:xfrm>
            <a:off x="868680" y="2724840"/>
            <a:ext cx="10332360" cy="265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rgbClr val="F3F8FF"/>
                </a:solidFill>
                <a:effectLst/>
                <a:uFillTx/>
                <a:latin typeface="Aptos"/>
              </a:rPr>
              <a:t>Log in as admin@smartdesk.local. Show ticket counts by status and explain how the administrator identifies open work and priority.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rgbClr val="F3F8FF"/>
                </a:solidFill>
                <a:effectLst/>
                <a:uFillTx/>
                <a:latin typeface="Aptos"/>
              </a:rPr>
              <a:t>Use realistic demonstration tickets; avoid displaying real customer data.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4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Rectangle 1"/>
          <p:cNvSpPr/>
          <p:nvPr/>
        </p:nvSpPr>
        <p:spPr>
          <a:xfrm>
            <a:off x="0" y="0"/>
            <a:ext cx="100080" cy="6857640"/>
          </a:xfrm>
          <a:prstGeom prst="rect">
            <a:avLst/>
          </a:prstGeom>
          <a:solidFill>
            <a:srgbClr val="28D9B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8" name="TextBox 2"/>
          <p:cNvSpPr/>
          <p:nvPr/>
        </p:nvSpPr>
        <p:spPr>
          <a:xfrm>
            <a:off x="594360" y="311040"/>
            <a:ext cx="10058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100" b="1" u="none" strike="noStrike">
                <a:solidFill>
                  <a:srgbClr val="28D9B7"/>
                </a:solidFill>
                <a:effectLst/>
                <a:uFillTx/>
                <a:latin typeface="Aptos"/>
              </a:rPr>
              <a:t>SMARTDESK  /  CAPSTONE PROJECT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Box 3"/>
          <p:cNvSpPr/>
          <p:nvPr/>
        </p:nvSpPr>
        <p:spPr>
          <a:xfrm>
            <a:off x="594360" y="795600"/>
            <a:ext cx="10972440" cy="56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3100" b="1" u="none" strike="noStrike">
                <a:solidFill>
                  <a:srgbClr val="F3F8FF"/>
                </a:solidFill>
                <a:effectLst/>
                <a:uFillTx/>
                <a:latin typeface="Aptos"/>
              </a:rPr>
              <a:t>Testing &amp; Results</a:t>
            </a:r>
            <a:endParaRPr lang="en-US" sz="3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Box 4"/>
          <p:cNvSpPr/>
          <p:nvPr/>
        </p:nvSpPr>
        <p:spPr>
          <a:xfrm>
            <a:off x="594360" y="6446520"/>
            <a:ext cx="91436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000" b="0" u="none" strike="noStrike">
                <a:solidFill>
                  <a:srgbClr val="A1B5C9"/>
                </a:solidFill>
                <a:effectLst/>
                <a:uFillTx/>
                <a:latin typeface="Aptos"/>
              </a:rPr>
              <a:t>F. Schaefer-Gerber  •  W. Sandenbergh   |   29 October 2026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Box 5"/>
          <p:cNvSpPr/>
          <p:nvPr/>
        </p:nvSpPr>
        <p:spPr>
          <a:xfrm>
            <a:off x="11247120" y="641916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100" b="1" u="none" strike="noStrike">
                <a:solidFill>
                  <a:srgbClr val="28D9B7"/>
                </a:solidFill>
                <a:effectLst/>
                <a:uFillTx/>
                <a:latin typeface="Aptos"/>
              </a:rPr>
              <a:t>11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Rounded Rectangle 6"/>
          <p:cNvSpPr/>
          <p:nvPr/>
        </p:nvSpPr>
        <p:spPr>
          <a:xfrm>
            <a:off x="640080" y="1874520"/>
            <a:ext cx="5303160" cy="3748680"/>
          </a:xfrm>
          <a:prstGeom prst="roundRect">
            <a:avLst>
              <a:gd name="adj" fmla="val 16667"/>
            </a:avLst>
          </a:prstGeom>
          <a:solidFill>
            <a:srgbClr val="1222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3" name="TextBox 7"/>
          <p:cNvSpPr/>
          <p:nvPr/>
        </p:nvSpPr>
        <p:spPr>
          <a:xfrm>
            <a:off x="868680" y="2084760"/>
            <a:ext cx="48459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800" b="1" u="none" strike="noStrike">
                <a:solidFill>
                  <a:srgbClr val="28D9B7"/>
                </a:solidFill>
                <a:effectLst/>
                <a:uFillTx/>
                <a:latin typeface="Aptos"/>
              </a:rPr>
              <a:t>Automated Testing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Box 8"/>
          <p:cNvSpPr/>
          <p:nvPr/>
        </p:nvSpPr>
        <p:spPr>
          <a:xfrm>
            <a:off x="868680" y="2679120"/>
            <a:ext cx="4845960" cy="15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rgbClr val="F3F8FF"/>
                </a:solidFill>
                <a:effectLst/>
                <a:uFillTx/>
                <a:latin typeface="Aptos"/>
              </a:rPr>
              <a:t>3 pytest tests passed in 0.88 seconds: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rgbClr val="F3F8FF"/>
                </a:solidFill>
                <a:effectLst/>
                <a:uFillTx/>
                <a:latin typeface="Aptos"/>
              </a:rPr>
              <a:t>• Registration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rgbClr val="F3F8FF"/>
                </a:solidFill>
                <a:effectLst/>
                <a:uFillTx/>
                <a:latin typeface="Aptos"/>
              </a:rPr>
              <a:t>• Access Controls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rgbClr val="F3F8FF"/>
                </a:solidFill>
                <a:effectLst/>
                <a:uFillTx/>
                <a:latin typeface="Aptos"/>
              </a:rPr>
              <a:t>• Customer Isolation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Rounded Rectangle 9"/>
          <p:cNvSpPr/>
          <p:nvPr/>
        </p:nvSpPr>
        <p:spPr>
          <a:xfrm>
            <a:off x="6126480" y="1874520"/>
            <a:ext cx="5303160" cy="3748680"/>
          </a:xfrm>
          <a:prstGeom prst="roundRect">
            <a:avLst>
              <a:gd name="adj" fmla="val 16667"/>
            </a:avLst>
          </a:prstGeom>
          <a:solidFill>
            <a:srgbClr val="1222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6" name="TextBox 10"/>
          <p:cNvSpPr/>
          <p:nvPr/>
        </p:nvSpPr>
        <p:spPr>
          <a:xfrm>
            <a:off x="6355080" y="2084760"/>
            <a:ext cx="48459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800" b="1" u="none" strike="noStrike">
                <a:solidFill>
                  <a:srgbClr val="28D9B7"/>
                </a:solidFill>
                <a:effectLst/>
                <a:uFillTx/>
                <a:latin typeface="Aptos"/>
              </a:rPr>
              <a:t>Evidence still to confirm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Box 11"/>
          <p:cNvSpPr/>
          <p:nvPr/>
        </p:nvSpPr>
        <p:spPr>
          <a:xfrm>
            <a:off x="6355080" y="2679120"/>
            <a:ext cx="4845960" cy="21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rgbClr val="F3F8FF"/>
                </a:solidFill>
                <a:effectLst/>
                <a:uFillTx/>
                <a:latin typeface="Aptos"/>
              </a:rPr>
              <a:t>Demo script mentions 20 manual cases and 5 defects fixed. These figures are not independently established by the supplied test output.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rgbClr val="F3F8FF"/>
                </a:solidFill>
                <a:effectLst/>
                <a:uFillTx/>
                <a:latin typeface="Aptos"/>
              </a:rPr>
              <a:t>Confirm defect log and test evidence before presenting as fact.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4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Rectangle 1"/>
          <p:cNvSpPr/>
          <p:nvPr/>
        </p:nvSpPr>
        <p:spPr>
          <a:xfrm>
            <a:off x="0" y="0"/>
            <a:ext cx="100080" cy="6857640"/>
          </a:xfrm>
          <a:prstGeom prst="rect">
            <a:avLst/>
          </a:prstGeom>
          <a:solidFill>
            <a:srgbClr val="28D9B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9" name="TextBox 2"/>
          <p:cNvSpPr/>
          <p:nvPr/>
        </p:nvSpPr>
        <p:spPr>
          <a:xfrm>
            <a:off x="594360" y="311040"/>
            <a:ext cx="10058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100" b="1" u="none" strike="noStrike">
                <a:solidFill>
                  <a:srgbClr val="28D9B7"/>
                </a:solidFill>
                <a:effectLst/>
                <a:uFillTx/>
                <a:latin typeface="Aptos"/>
              </a:rPr>
              <a:t>SMARTDESK  /  CAPSTONE PROJECT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Box 3"/>
          <p:cNvSpPr/>
          <p:nvPr/>
        </p:nvSpPr>
        <p:spPr>
          <a:xfrm>
            <a:off x="594360" y="795600"/>
            <a:ext cx="109724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3100" b="1" u="none" strike="noStrike">
                <a:solidFill>
                  <a:srgbClr val="F3F8FF"/>
                </a:solidFill>
                <a:effectLst/>
                <a:uFillTx/>
                <a:latin typeface="Aptos"/>
              </a:rPr>
              <a:t>Conclusion &amp; next steps</a:t>
            </a:r>
            <a:endParaRPr lang="en-US" sz="3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Box 4"/>
          <p:cNvSpPr/>
          <p:nvPr/>
        </p:nvSpPr>
        <p:spPr>
          <a:xfrm>
            <a:off x="594360" y="6446520"/>
            <a:ext cx="91436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000" b="0" u="none" strike="noStrike">
                <a:solidFill>
                  <a:srgbClr val="A1B5C9"/>
                </a:solidFill>
                <a:effectLst/>
                <a:uFillTx/>
                <a:latin typeface="Aptos"/>
              </a:rPr>
              <a:t>F. Schaefer-Gerber  •  W. Sandenbergh   |   29 October 2026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Box 5"/>
          <p:cNvSpPr/>
          <p:nvPr/>
        </p:nvSpPr>
        <p:spPr>
          <a:xfrm>
            <a:off x="11247120" y="641916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100" b="1" u="none" strike="noStrike">
                <a:solidFill>
                  <a:srgbClr val="28D9B7"/>
                </a:solidFill>
                <a:effectLst/>
                <a:uFillTx/>
                <a:latin typeface="Aptos"/>
              </a:rPr>
              <a:t>12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Rounded Rectangle 6"/>
          <p:cNvSpPr/>
          <p:nvPr/>
        </p:nvSpPr>
        <p:spPr>
          <a:xfrm>
            <a:off x="640080" y="1874520"/>
            <a:ext cx="5303160" cy="3748680"/>
          </a:xfrm>
          <a:prstGeom prst="roundRect">
            <a:avLst>
              <a:gd name="adj" fmla="val 16667"/>
            </a:avLst>
          </a:prstGeom>
          <a:solidFill>
            <a:srgbClr val="1222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4" name="TextBox 7"/>
          <p:cNvSpPr/>
          <p:nvPr/>
        </p:nvSpPr>
        <p:spPr>
          <a:xfrm>
            <a:off x="868680" y="2084760"/>
            <a:ext cx="48459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800" b="1" u="none" strike="noStrike">
                <a:solidFill>
                  <a:srgbClr val="28D9B7"/>
                </a:solidFill>
                <a:effectLst/>
                <a:uFillTx/>
                <a:latin typeface="Aptos"/>
              </a:rPr>
              <a:t>What the MVP demonstrates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Box 8"/>
          <p:cNvSpPr/>
          <p:nvPr/>
        </p:nvSpPr>
        <p:spPr>
          <a:xfrm>
            <a:off x="868680" y="2679120"/>
            <a:ext cx="4845960" cy="283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rgbClr val="F3F8FF"/>
                </a:solidFill>
                <a:effectLst/>
                <a:uFillTx/>
                <a:latin typeface="Aptos"/>
              </a:rPr>
              <a:t>Working local customer-support ticket workflow with role-specific views, assignment, comments and ticket status tracking.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Rounded Rectangle 9"/>
          <p:cNvSpPr/>
          <p:nvPr/>
        </p:nvSpPr>
        <p:spPr>
          <a:xfrm>
            <a:off x="6126480" y="1874520"/>
            <a:ext cx="5303160" cy="3748680"/>
          </a:xfrm>
          <a:prstGeom prst="roundRect">
            <a:avLst>
              <a:gd name="adj" fmla="val 16667"/>
            </a:avLst>
          </a:prstGeom>
          <a:solidFill>
            <a:srgbClr val="1222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7" name="TextBox 10"/>
          <p:cNvSpPr/>
          <p:nvPr/>
        </p:nvSpPr>
        <p:spPr>
          <a:xfrm>
            <a:off x="6355080" y="2084760"/>
            <a:ext cx="48459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800" b="1" u="none" strike="noStrike">
                <a:solidFill>
                  <a:srgbClr val="28D9B7"/>
                </a:solidFill>
                <a:effectLst/>
                <a:uFillTx/>
                <a:latin typeface="Aptos"/>
              </a:rPr>
              <a:t>Future improvements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Box 11"/>
          <p:cNvSpPr/>
          <p:nvPr/>
        </p:nvSpPr>
        <p:spPr>
          <a:xfrm>
            <a:off x="6355080" y="2679120"/>
            <a:ext cx="4845960" cy="283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rgbClr val="F3F8FF"/>
                </a:solidFill>
                <a:effectLst/>
                <a:uFillTx/>
                <a:latin typeface="Aptos"/>
              </a:rPr>
              <a:t>Email notifications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rgbClr val="F3F8FF"/>
                </a:solidFill>
                <a:effectLst/>
                <a:uFillTx/>
                <a:latin typeface="Aptos"/>
              </a:rPr>
              <a:t>Attachments and audit history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rgbClr val="F3F8FF"/>
                </a:solidFill>
                <a:effectLst/>
                <a:uFillTx/>
                <a:latin typeface="Aptos"/>
              </a:rPr>
              <a:t>Pagination and broader test coverage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rgbClr val="F3F8FF"/>
                </a:solidFill>
                <a:effectLst/>
                <a:uFillTx/>
                <a:latin typeface="Aptos"/>
              </a:rPr>
              <a:t>Deployment hardening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4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Rectangle 1"/>
          <p:cNvSpPr/>
          <p:nvPr/>
        </p:nvSpPr>
        <p:spPr>
          <a:xfrm>
            <a:off x="0" y="0"/>
            <a:ext cx="100080" cy="6857640"/>
          </a:xfrm>
          <a:prstGeom prst="rect">
            <a:avLst/>
          </a:prstGeom>
          <a:solidFill>
            <a:srgbClr val="28D9B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0" name="TextBox 2"/>
          <p:cNvSpPr/>
          <p:nvPr/>
        </p:nvSpPr>
        <p:spPr>
          <a:xfrm>
            <a:off x="594360" y="311040"/>
            <a:ext cx="10058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100" b="1" u="none" strike="noStrike">
                <a:solidFill>
                  <a:srgbClr val="28D9B7"/>
                </a:solidFill>
                <a:effectLst/>
                <a:uFillTx/>
                <a:latin typeface="Aptos"/>
              </a:rPr>
              <a:t>SMARTDESK  /  CAPSTONE PROJECT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Box 3"/>
          <p:cNvSpPr/>
          <p:nvPr/>
        </p:nvSpPr>
        <p:spPr>
          <a:xfrm>
            <a:off x="594360" y="795600"/>
            <a:ext cx="109724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3100" b="1" u="none" strike="noStrike">
                <a:solidFill>
                  <a:srgbClr val="F3F8FF"/>
                </a:solidFill>
                <a:effectLst/>
                <a:uFillTx/>
                <a:latin typeface="Aptos"/>
              </a:rPr>
              <a:t>Demo contingency &amp; questions</a:t>
            </a:r>
            <a:endParaRPr lang="en-US" sz="3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Box 4"/>
          <p:cNvSpPr/>
          <p:nvPr/>
        </p:nvSpPr>
        <p:spPr>
          <a:xfrm>
            <a:off x="594360" y="6446520"/>
            <a:ext cx="91436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000" b="0" u="none" strike="noStrike">
                <a:solidFill>
                  <a:srgbClr val="A1B5C9"/>
                </a:solidFill>
                <a:effectLst/>
                <a:uFillTx/>
                <a:latin typeface="Aptos"/>
              </a:rPr>
              <a:t>F. Schaefer-Gerber  •  W. Sandenbergh   |   29 October 2026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Box 5"/>
          <p:cNvSpPr/>
          <p:nvPr/>
        </p:nvSpPr>
        <p:spPr>
          <a:xfrm>
            <a:off x="11247120" y="641916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100" b="1" u="none" strike="noStrike">
                <a:solidFill>
                  <a:srgbClr val="28D9B7"/>
                </a:solidFill>
                <a:effectLst/>
                <a:uFillTx/>
                <a:latin typeface="Aptos"/>
              </a:rPr>
              <a:t>13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Rounded Rectangle 6"/>
          <p:cNvSpPr/>
          <p:nvPr/>
        </p:nvSpPr>
        <p:spPr>
          <a:xfrm>
            <a:off x="640080" y="1874520"/>
            <a:ext cx="5303160" cy="3748680"/>
          </a:xfrm>
          <a:prstGeom prst="roundRect">
            <a:avLst>
              <a:gd name="adj" fmla="val 16667"/>
            </a:avLst>
          </a:prstGeom>
          <a:solidFill>
            <a:srgbClr val="1222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5" name="TextBox 7"/>
          <p:cNvSpPr/>
          <p:nvPr/>
        </p:nvSpPr>
        <p:spPr>
          <a:xfrm>
            <a:off x="868680" y="2084760"/>
            <a:ext cx="48459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800" b="1" u="none" strike="noStrike">
                <a:solidFill>
                  <a:srgbClr val="28D9B7"/>
                </a:solidFill>
                <a:effectLst/>
                <a:uFillTx/>
                <a:latin typeface="Aptos"/>
              </a:rPr>
              <a:t>Backup plan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Box 8"/>
          <p:cNvSpPr/>
          <p:nvPr/>
        </p:nvSpPr>
        <p:spPr>
          <a:xfrm>
            <a:off x="868680" y="2679120"/>
            <a:ext cx="4845960" cy="283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rgbClr val="F3F8FF"/>
                </a:solidFill>
                <a:effectLst/>
                <a:uFillTx/>
                <a:latin typeface="Aptos"/>
              </a:rPr>
              <a:t>Prepare screenshots or a recording of the workflow.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rgbClr val="F3F8FF"/>
                </a:solidFill>
                <a:effectLst/>
                <a:uFillTx/>
                <a:latin typeface="Aptos"/>
              </a:rPr>
              <a:t>Keep a database backup and setup commands ready.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rgbClr val="F3F8FF"/>
                </a:solidFill>
                <a:effectLst/>
                <a:uFillTx/>
                <a:latin typeface="Aptos"/>
              </a:rPr>
              <a:t>Do not reset the database without safeguarding existing demo data.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Rounded Rectangle 9"/>
          <p:cNvSpPr/>
          <p:nvPr/>
        </p:nvSpPr>
        <p:spPr>
          <a:xfrm>
            <a:off x="6126480" y="1874520"/>
            <a:ext cx="5303160" cy="3748680"/>
          </a:xfrm>
          <a:prstGeom prst="roundRect">
            <a:avLst>
              <a:gd name="adj" fmla="val 16667"/>
            </a:avLst>
          </a:prstGeom>
          <a:solidFill>
            <a:srgbClr val="1222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8" name="TextBox 10"/>
          <p:cNvSpPr/>
          <p:nvPr/>
        </p:nvSpPr>
        <p:spPr>
          <a:xfrm>
            <a:off x="6355080" y="2084760"/>
            <a:ext cx="48459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800" b="1" u="none" strike="noStrike">
                <a:solidFill>
                  <a:srgbClr val="28D9B7"/>
                </a:solidFill>
                <a:effectLst/>
                <a:uFillTx/>
                <a:latin typeface="Aptos"/>
              </a:rPr>
              <a:t>Thank you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Box 11"/>
          <p:cNvSpPr/>
          <p:nvPr/>
        </p:nvSpPr>
        <p:spPr>
          <a:xfrm>
            <a:off x="6355080" y="2679120"/>
            <a:ext cx="4845960" cy="283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rgbClr val="F3F8FF"/>
                </a:solidFill>
                <a:effectLst/>
                <a:uFillTx/>
                <a:latin typeface="Aptos"/>
              </a:rPr>
              <a:t>Freek &amp; Wian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rgbClr val="F3F8FF"/>
                </a:solidFill>
                <a:effectLst/>
                <a:uFillTx/>
                <a:latin typeface="Aptos"/>
              </a:rPr>
              <a:t>Questions about design decisions, testing, access controls or individual contributions?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LibreOffice/26.2.1.2$Windows_X86_64 LibreOffice_project/620$Build-2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2026-10-26T15:51:02Z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